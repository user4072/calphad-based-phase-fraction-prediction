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44276"/>
                </a:solidFill>
                <a:latin typeface="Arial"/>
              </a:rPr>
              <a:t>Machine-Learning Surrogates for CALPHAD Phase-Fraction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573"/>
                </a:solidFill>
                <a:latin typeface="Arial"/>
              </a:rPr>
              <a:t>Simplex constraints, spatial generalization, and the regressor–detector gap in five Fe-based ternary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31520"/>
            <a:ext cx="11201400" cy="10972"/>
          </a:xfrm>
          <a:prstGeom prst="rect">
            <a:avLst/>
          </a:prstGeom>
          <a:solidFill>
            <a:srgbClr val="D6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96112"/>
            <a:ext cx="3657600" cy="42062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5597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CALPHAD data → constrained heads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1426464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490472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Five Fe-based ternary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6824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Fe–Cr–Ni · Fe–Cr–Mn · Fe–Cr–Mo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Fe–Cr–V · Fe–Mn–Ni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5681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pycalphad + MatCalc steel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09397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44,397 validated equilibria · 3 seeds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23113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44276"/>
                </a:solidFill>
                <a:latin typeface="Arial"/>
              </a:rPr>
              <a:t>targets: Nᵏ ≥ 0,  Σ Nᵏ = 1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926080" y="1730044"/>
            <a:ext cx="694943" cy="416966"/>
          </a:xfrm>
          <a:prstGeom prst="triangle">
            <a:avLst/>
          </a:prstGeom>
          <a:solidFill>
            <a:srgbClr val="FFFFFF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18688" y="1918411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57676" y="200180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88182" y="187671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157459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3192" y="2505456"/>
            <a:ext cx="3383280" cy="859536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569464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One fixed protocol, three seeds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2770632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 (3 × 192): six output 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292608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 · residue · sparsemax · softmax ·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sigmoid/Σ · renorm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320040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baselines: ridge · k-NN · XGBoost · random forest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3192" y="3474720"/>
            <a:ext cx="3383280" cy="1261872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538728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Simplex closure: predicted phase fractions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3721608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one test 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552" y="3753612"/>
            <a:ext cx="8229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3113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96312" y="3753612"/>
            <a:ext cx="8229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689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2072" y="3753612"/>
            <a:ext cx="82296" cy="6400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6265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27832" y="3753612"/>
            <a:ext cx="82296" cy="6400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5" y="3717036"/>
            <a:ext cx="1097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38907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on-simplex heads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7904" y="3895344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98014" y="3895344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78074" y="3895344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8094" y="3895344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73552" y="3890772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0645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post-hoc renorm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17904" y="4069080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98014" y="4069080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78074" y="4069080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38094" y="4069080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3552" y="406450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4238244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unconstrained sigmoid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17904" y="4242816"/>
            <a:ext cx="944118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62022" y="4242816"/>
            <a:ext cx="512064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974086" y="4242816"/>
            <a:ext cx="176022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50108" y="4242816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238244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B04A3A"/>
                </a:solidFill>
                <a:latin typeface="Arial"/>
              </a:rPr>
              <a:t>Σ ≈ 1.07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442569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closure ≠ simplex validity: the residue head closes the sum yet emits negative fractions on up to 1.2 % of cells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3192" y="4791456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846320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E7D4F"/>
                </a:solidFill>
                <a:latin typeface="Arial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84632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44276"/>
                </a:solidFill>
                <a:latin typeface="Arial"/>
              </a:rPr>
              <a:t>structural constraints: Σ ŷ = 1 at no accuracy cost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" y="5084064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04A3A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508406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B2B2B"/>
                </a:solidFill>
                <a:latin typeface="Arial"/>
              </a:rPr>
              <a:t>no single architecture wins all five systems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" y="5449824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B6573"/>
                </a:solidFill>
                <a:latin typeface="Arial"/>
              </a:rPr>
              <a:t>Test MAE, best MLP vs random forest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5486400"/>
            <a:ext cx="12801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6624" y="5449824"/>
            <a:ext cx="38404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72384" y="5486400"/>
            <a:ext cx="12801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18688" y="5449824"/>
            <a:ext cx="502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forest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" y="5623560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Fe–Cr–Ni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16736" y="5641848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16736" y="5641848"/>
            <a:ext cx="1023111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316736" y="5701284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16736" y="5701284"/>
            <a:ext cx="1737360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0" y="5641848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" y="5774436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16736" y="5792724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16736" y="5792724"/>
            <a:ext cx="7142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16736" y="5852160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16736" y="5852160"/>
            <a:ext cx="12837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0" y="5792724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2064" y="5925312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16736" y="5943600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16736" y="5943600"/>
            <a:ext cx="1216152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316736" y="6003036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16736" y="6003036"/>
            <a:ext cx="118719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943600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" y="6076188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16736" y="6094476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316736" y="6094476"/>
            <a:ext cx="14381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316736" y="615391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16736" y="6153912"/>
            <a:ext cx="1322324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08960" y="6094476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6227064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Fe–Mn–Ni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16736" y="624535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16736" y="6245352"/>
            <a:ext cx="1351280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316736" y="6304788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16736" y="6304788"/>
            <a:ext cx="5598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0" y="6245352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RF wins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70248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270248" y="896112"/>
            <a:ext cx="3657600" cy="420624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379976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379976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6B4F"/>
                </a:solidFill>
                <a:latin typeface="Arial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0016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Spatial holdout vs. controls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07408" y="1426464"/>
            <a:ext cx="3383280" cy="118872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26280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spatial protocols + controls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26280" y="1700784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contiguous interior-band holdout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26280" y="1847088"/>
            <a:ext cx="2103120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67528" y="1847088"/>
            <a:ext cx="42062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684264" y="1819656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 ∈ [1200, 1400] 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26280" y="2011680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strict one-sided extrapolation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26280" y="2157984"/>
            <a:ext cx="1156716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82996" y="2157984"/>
            <a:ext cx="94640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84264" y="2130552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x₂: ≤ 0.25 → &gt; 0.35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26280" y="2340864"/>
            <a:ext cx="109728" cy="64008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72584" y="2304288"/>
            <a:ext cx="4114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train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184648" y="2340864"/>
            <a:ext cx="109728" cy="64008"/>
          </a:xfrm>
          <a:prstGeom prst="rect">
            <a:avLst/>
          </a:prstGeom>
          <a:solidFill>
            <a:srgbClr val="FFFFFF"/>
          </a:solidFill>
          <a:ln w="6350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330952" y="2304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held out / far side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2304288"/>
            <a:ext cx="12801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+ size-matched random control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407408" y="2724912"/>
            <a:ext cx="3383280" cy="1298448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26280" y="278892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Composition-band penalty, Fe–Cr–Ni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26280" y="298094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band MAE ÷ matched random-control MAE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26280" y="3163824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191256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751576" y="3191256"/>
            <a:ext cx="713089" cy="91440"/>
          </a:xfrm>
          <a:prstGeom prst="rect">
            <a:avLst/>
          </a:prstGeom>
          <a:solidFill>
            <a:srgbClr val="4C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214616" y="3163824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1.61×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26280" y="3355848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XGBoost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751576" y="3383279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751576" y="3383279"/>
            <a:ext cx="992124" cy="9144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214616" y="3355848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2.24×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26280" y="3547872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random forest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751576" y="3575303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751576" y="3575303"/>
            <a:ext cx="1377457" cy="91440"/>
          </a:xfrm>
          <a:prstGeom prst="rect">
            <a:avLst/>
          </a:prstGeom>
          <a:solidFill>
            <a:srgbClr val="B0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214616" y="3547872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3.11×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26280" y="3749039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held-out band lies 99.3–99.4 % inside the training convex hull — interior generalization, not extrapolation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07408" y="4133087"/>
            <a:ext cx="3383280" cy="128016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26280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Strict one-sided extrapolation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4581144" y="4416552"/>
            <a:ext cx="0" cy="557784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581144" y="4974336"/>
            <a:ext cx="1874520" cy="0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5561838" y="4443984"/>
            <a:ext cx="7315" cy="530352"/>
          </a:xfrm>
          <a:prstGeom prst="rect">
            <a:avLst/>
          </a:prstGeom>
          <a:solidFill>
            <a:srgbClr val="8A9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4670298" y="4910693"/>
            <a:ext cx="445770" cy="10607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116068" y="4889479"/>
            <a:ext cx="445770" cy="21214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561838" y="4815230"/>
            <a:ext cx="356616" cy="74249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918454" y="4698552"/>
            <a:ext cx="392277" cy="116678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670298" y="4889479"/>
            <a:ext cx="445770" cy="10607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116068" y="4836444"/>
            <a:ext cx="445770" cy="53035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561838" y="4666731"/>
            <a:ext cx="356616" cy="169713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918454" y="4470501"/>
            <a:ext cx="392277" cy="196230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6473952" y="4433925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B04A3A"/>
                </a:solidFill>
                <a:latin typeface="Arial"/>
              </a:rPr>
              <a:t>trees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73952" y="4661976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MLP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35424" y="500176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MAE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58918" y="5001768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training range edge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56248" y="5001768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coordinate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26280" y="5157216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24523C"/>
                </a:solidFill>
                <a:latin typeface="Arial"/>
              </a:rPr>
              <a:t>all evaluated families degrade sharply beyond the training range; the MLP degrades least — yet none extrapolates reliably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5468112"/>
            <a:ext cx="3383280" cy="804672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9525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526280" y="5541264"/>
            <a:ext cx="314553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24523C"/>
                </a:solidFill>
                <a:latin typeface="Arial"/>
              </a:rPr>
              <a:t>Constrained MLPs degrade more gracefully than trees under contiguous region holdout: the region-matched penalty is smaller for MLPs in 9 of 10 band × system combinations. Graceful degradation is not reliable extrapolation.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84464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84464" y="896112"/>
            <a:ext cx="3657600" cy="420624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394192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394192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B3F8C"/>
                </a:solidFill>
                <a:latin typeface="Arial"/>
              </a:rP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714232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Regression vs. phase detection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21624" y="1426464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540496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distinct tasks, one prediction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540496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regression (MAE)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540496" y="1865376"/>
            <a:ext cx="779526" cy="10972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320022" y="1865376"/>
            <a:ext cx="425196" cy="10972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9745218" y="1865376"/>
            <a:ext cx="141732" cy="10972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886950" y="1865376"/>
            <a:ext cx="70866" cy="10972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540496" y="2034540"/>
            <a:ext cx="73152" cy="54864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631936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8878824" y="2034540"/>
            <a:ext cx="73152" cy="54864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970263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217151" y="2034540"/>
            <a:ext cx="73152" cy="54864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308591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55479" y="2034540"/>
            <a:ext cx="73152" cy="54864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646919" y="1997964"/>
            <a:ext cx="914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04704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detection (F₁)</a:t>
            </a:r>
          </a:p>
        </p:txBody>
      </p:sp>
      <p:sp>
        <p:nvSpPr>
          <p:cNvPr id="176" name="Oval 175"/>
          <p:cNvSpPr/>
          <p:nvPr/>
        </p:nvSpPr>
        <p:spPr>
          <a:xfrm>
            <a:off x="10204704" y="1856231"/>
            <a:ext cx="128016" cy="128016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424160" y="1856231"/>
            <a:ext cx="128016" cy="128016"/>
          </a:xfrm>
          <a:prstGeom prst="ellipse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643616" y="1856231"/>
            <a:ext cx="128016" cy="128016"/>
          </a:xfrm>
          <a:prstGeom prst="ellipse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863072" y="1856231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844784" y="1842516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158984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378440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597896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817352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540496" y="2148840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rare phases are cheap in aggregate MAE — zero-fraction rows contribute almost no error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8421624" y="2542032"/>
            <a:ext cx="3383280" cy="1481328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540496" y="260604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Fe–Mn–Ni: the ranking reverses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540496" y="283464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test MAE (lower is better)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540496" y="2999232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924544" y="3017520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924544" y="3017520"/>
            <a:ext cx="719763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716768" y="2990088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0.0058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540496" y="314553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716768" y="3136392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0.0140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1283696" y="299923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540496" y="334670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rare-phase detection (MNNI · MNNI2 · ALPHA_MN)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540496" y="352958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200" name="Oval 199"/>
          <p:cNvSpPr/>
          <p:nvPr/>
        </p:nvSpPr>
        <p:spPr>
          <a:xfrm>
            <a:off x="8942832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162288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381744" y="35204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656064" y="3520440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resolves 2 of 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540496" y="369417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205" name="Oval 204"/>
          <p:cNvSpPr/>
          <p:nvPr/>
        </p:nvSpPr>
        <p:spPr>
          <a:xfrm>
            <a:off x="8942832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924544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7" name="Oval 206"/>
          <p:cNvSpPr/>
          <p:nvPr/>
        </p:nvSpPr>
        <p:spPr>
          <a:xfrm>
            <a:off x="9162288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144000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9" name="Oval 208"/>
          <p:cNvSpPr/>
          <p:nvPr/>
        </p:nvSpPr>
        <p:spPr>
          <a:xfrm>
            <a:off x="9381744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363456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656064" y="3685032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detects none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283696" y="352958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40496" y="3858768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the best regressor need not be the best detector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421624" y="4133087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540496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Robust to the presence threshold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558784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8558784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10⁻⁴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9034272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034272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10⁻³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9509760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09760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10⁻²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021824" y="4425696"/>
            <a:ext cx="16916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gap persists at all three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540496" y="4681728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although the detector ranking flips with the threshold on Fe–Cr–Mo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421624" y="5212080"/>
            <a:ext cx="3383280" cy="1060704"/>
          </a:xfrm>
          <a:prstGeom prst="roundRect">
            <a:avLst>
              <a:gd name="adj" fmla="val 8000"/>
            </a:avLst>
          </a:prstGeom>
          <a:solidFill>
            <a:srgbClr val="FDF6E8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540496" y="5285232"/>
            <a:ext cx="31455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6306C"/>
                </a:solidFill>
                <a:latin typeface="Arial"/>
              </a:rPr>
              <a:t>Report both. </a:t>
            </a:r>
            <a:r>
              <a:rPr sz="900" b="0" i="0">
                <a:solidFill>
                  <a:srgbClr val="2B2B2B"/>
                </a:solidFill>
                <a:latin typeface="Arial"/>
              </a:rPr>
              <a:t>Low phase-fraction MAE does not imply good phase-presence detection — for alloy design, detecting a rare phase matters as much as estimating its fraction.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31920" y="3648456"/>
            <a:ext cx="320040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7946136" y="3648456"/>
            <a:ext cx="320039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TextBox 227"/>
          <p:cNvSpPr txBox="1"/>
          <p:nvPr/>
        </p:nvSpPr>
        <p:spPr>
          <a:xfrm>
            <a:off x="502920" y="651052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3A0"/>
                </a:solidFill>
                <a:latin typeface="Arial"/>
              </a:rPr>
              <a:t>Fixed-protocol benchmark · 6 heads + 2 mechanism probes · 4 baselines · 5 systems · 44,397 equilibria · seeds 42 / 123 / 2024 · negative results reported in full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