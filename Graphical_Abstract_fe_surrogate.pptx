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18872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4276"/>
                </a:solidFill>
                <a:latin typeface="Arial"/>
              </a:rPr>
              <a:t>Validated High-Throughput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201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573"/>
                </a:solidFill>
                <a:latin typeface="Arial"/>
              </a:rPr>
              <a:t>with simplex-constrained surrogates for CALPHAD phase-fraction prediction in nine alloy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201400" cy="10972"/>
          </a:xfrm>
          <a:prstGeom prst="rect">
            <a:avLst/>
          </a:prstGeom>
          <a:solidFill>
            <a:srgbClr val="D6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896112"/>
            <a:ext cx="3657600" cy="550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896112"/>
            <a:ext cx="3657600" cy="420624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5760" y="9784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82980"/>
            <a:ext cx="24688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F5597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69264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CALPHAD data → constrained heads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" y="1426464"/>
            <a:ext cx="3383280" cy="969264"/>
          </a:xfrm>
          <a:prstGeom prst="roundRect">
            <a:avLst>
              <a:gd name="adj" fmla="val 8000"/>
            </a:avLst>
          </a:prstGeom>
          <a:solidFill>
            <a:srgbClr val="F9FBFE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490472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Five Fe-based ternary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68249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Fe–Cr–Ni · Fe–Cr–Mn · Fe–Cr–Mo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Fe–Cr–V · Fe–Mn–Ni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56816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pycalphad + MatCalc steel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093976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44,397 validated equilibria · 3 seeds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231136"/>
            <a:ext cx="23317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44276"/>
                </a:solidFill>
                <a:latin typeface="Arial"/>
              </a:rPr>
              <a:t>targets: Nᵏ ≥ 0,  Σ Nᵏ = 1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2926080" y="1730044"/>
            <a:ext cx="694943" cy="416966"/>
          </a:xfrm>
          <a:prstGeom prst="triangle">
            <a:avLst/>
          </a:prstGeom>
          <a:solidFill>
            <a:srgbClr val="FFFFFF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18688" y="1918411"/>
            <a:ext cx="40233" cy="40233"/>
          </a:xfrm>
          <a:prstGeom prst="ellipse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57676" y="2001804"/>
            <a:ext cx="40233" cy="40233"/>
          </a:xfrm>
          <a:prstGeom prst="ellipse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88182" y="1876714"/>
            <a:ext cx="40233" cy="40233"/>
          </a:xfrm>
          <a:prstGeom prst="ellipse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157459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5B6573"/>
                </a:solidFill>
                <a:latin typeface="Arial"/>
              </a:rPr>
              <a:t>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156155"/>
            <a:ext cx="256032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i="0">
                <a:solidFill>
                  <a:srgbClr val="5B6573"/>
                </a:solidFill>
                <a:latin typeface="Arial"/>
              </a:rPr>
              <a:t>x₂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156155"/>
            <a:ext cx="256032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50" b="1" i="0">
                <a:solidFill>
                  <a:srgbClr val="5B6573"/>
                </a:solidFill>
                <a:latin typeface="Arial"/>
              </a:rPr>
              <a:t>x₃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" y="2505456"/>
            <a:ext cx="3383280" cy="859536"/>
          </a:xfrm>
          <a:prstGeom prst="roundRect">
            <a:avLst>
              <a:gd name="adj" fmla="val 8000"/>
            </a:avLst>
          </a:prstGeom>
          <a:solidFill>
            <a:srgbClr val="F9FBFE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569464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One fixed protocol, three seeds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2770632"/>
            <a:ext cx="314553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constrained MLP (3 × 192): six output heads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2926080"/>
            <a:ext cx="314553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sigmoid · residue · sparsemax · softmax ·</a:t>
            </a:r>
          </a:p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sigmoid/Σ · renorm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3200400"/>
            <a:ext cx="314553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baselines: ridge · k-NN · XGBoost · random forest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" y="3474720"/>
            <a:ext cx="3383280" cy="1261872"/>
          </a:xfrm>
          <a:prstGeom prst="roundRect">
            <a:avLst>
              <a:gd name="adj" fmla="val 8000"/>
            </a:avLst>
          </a:prstGeom>
          <a:solidFill>
            <a:srgbClr val="F9FBFE"/>
          </a:solidFill>
          <a:ln w="635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3538728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Simplex closure: predicted phase fractions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3721608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one test 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0552" y="3753612"/>
            <a:ext cx="82296" cy="64008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31136" y="3717036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BCC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96312" y="3753612"/>
            <a:ext cx="82296" cy="64008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96896" y="3717036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FCC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62072" y="3753612"/>
            <a:ext cx="82296" cy="64008"/>
          </a:xfrm>
          <a:prstGeom prst="rect">
            <a:avLst/>
          </a:prstGeom>
          <a:solidFill>
            <a:srgbClr val="4A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62656" y="3717036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LIQ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27832" y="3753612"/>
            <a:ext cx="82296" cy="64008"/>
          </a:xfrm>
          <a:prstGeom prst="rect">
            <a:avLst/>
          </a:prstGeom>
          <a:solidFill>
            <a:srgbClr val="7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28415" y="3717036"/>
            <a:ext cx="10972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890772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on-simplex heads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17904" y="3895344"/>
            <a:ext cx="880110" cy="118872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98014" y="3895344"/>
            <a:ext cx="480060" cy="118872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878074" y="3895344"/>
            <a:ext cx="160020" cy="118872"/>
          </a:xfrm>
          <a:prstGeom prst="rect">
            <a:avLst/>
          </a:prstGeom>
          <a:solidFill>
            <a:srgbClr val="4A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38094" y="3895344"/>
            <a:ext cx="80010" cy="118872"/>
          </a:xfrm>
          <a:prstGeom prst="rect">
            <a:avLst/>
          </a:prstGeom>
          <a:solidFill>
            <a:srgbClr val="7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73552" y="3890772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E7D4F"/>
                </a:solidFill>
                <a:latin typeface="Arial"/>
              </a:rPr>
              <a:t>Σ =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406450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post-hoc renorm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17904" y="4069080"/>
            <a:ext cx="880110" cy="118872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398014" y="4069080"/>
            <a:ext cx="480060" cy="118872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78074" y="4069080"/>
            <a:ext cx="160020" cy="118872"/>
          </a:xfrm>
          <a:prstGeom prst="rect">
            <a:avLst/>
          </a:prstGeom>
          <a:solidFill>
            <a:srgbClr val="4A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38094" y="4069080"/>
            <a:ext cx="80010" cy="118872"/>
          </a:xfrm>
          <a:prstGeom prst="rect">
            <a:avLst/>
          </a:prstGeom>
          <a:solidFill>
            <a:srgbClr val="7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73552" y="406450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E7D4F"/>
                </a:solidFill>
                <a:latin typeface="Arial"/>
              </a:rPr>
              <a:t>Σ =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" y="4238244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unconstrained sigmoid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17904" y="4242816"/>
            <a:ext cx="944118" cy="118872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62022" y="4242816"/>
            <a:ext cx="512064" cy="118872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74086" y="4242816"/>
            <a:ext cx="176022" cy="118872"/>
          </a:xfrm>
          <a:prstGeom prst="rect">
            <a:avLst/>
          </a:prstGeom>
          <a:solidFill>
            <a:srgbClr val="4A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50108" y="4242816"/>
            <a:ext cx="80010" cy="118872"/>
          </a:xfrm>
          <a:prstGeom prst="rect">
            <a:avLst/>
          </a:prstGeom>
          <a:solidFill>
            <a:srgbClr val="7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73552" y="423824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B04A3A"/>
                </a:solidFill>
                <a:latin typeface="Arial"/>
              </a:rPr>
              <a:t>Σ ≈ 1.07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" y="4425696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5B6573"/>
                </a:solidFill>
                <a:latin typeface="Arial"/>
              </a:rPr>
              <a:t>closure ≠ simplex validity: the residue head closes the sum yet emits negative fractions on up to 1.2 % of cells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3192" y="4791456"/>
            <a:ext cx="3383280" cy="566928"/>
          </a:xfrm>
          <a:prstGeom prst="roundRect">
            <a:avLst>
              <a:gd name="adj" fmla="val 8000"/>
            </a:avLst>
          </a:prstGeom>
          <a:solidFill>
            <a:srgbClr val="F9FBFE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4846320"/>
            <a:ext cx="1828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E7D4F"/>
                </a:solidFill>
                <a:latin typeface="Arial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" y="4846320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44276"/>
                </a:solidFill>
                <a:latin typeface="Arial"/>
              </a:rPr>
              <a:t>structural constraints: Σ ŷ = 1 at no accuracy cost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" y="5084064"/>
            <a:ext cx="18288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B04A3A"/>
                </a:solidFill>
                <a:latin typeface="Arial"/>
              </a:rPr>
              <a:t>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" y="508406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B2B2B"/>
                </a:solidFill>
                <a:latin typeface="Arial"/>
              </a:rPr>
              <a:t>no single architecture wins all five systems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" y="5449824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B6573"/>
                </a:solidFill>
                <a:latin typeface="Arial"/>
              </a:rPr>
              <a:t>Test MAE, best MLP vs random forest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5486400"/>
            <a:ext cx="128016" cy="64008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6624" y="5449824"/>
            <a:ext cx="38404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MLP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72384" y="5486400"/>
            <a:ext cx="128016" cy="64008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18688" y="5449824"/>
            <a:ext cx="50292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forest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2064" y="5623560"/>
            <a:ext cx="7772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Fe–Cr–Ni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16736" y="5641848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316736" y="5641848"/>
            <a:ext cx="1023111" cy="45720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316736" y="5701284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316736" y="5701284"/>
            <a:ext cx="1737360" cy="45720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08960" y="5641848"/>
            <a:ext cx="65836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MLP wins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" y="5774436"/>
            <a:ext cx="7772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Fe–Cr–Mn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16736" y="5792724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16736" y="5792724"/>
            <a:ext cx="714248" cy="45720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16736" y="5852160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16736" y="5852160"/>
            <a:ext cx="1283716" cy="45720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0" y="5792724"/>
            <a:ext cx="65836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MLP wins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2064" y="5925312"/>
            <a:ext cx="7772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Fe–Cr–Mo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16736" y="5943600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316736" y="5943600"/>
            <a:ext cx="1216152" cy="45720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316736" y="6003036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16736" y="6003036"/>
            <a:ext cx="1187196" cy="45720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0" y="5943600"/>
            <a:ext cx="65836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tie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2064" y="6076188"/>
            <a:ext cx="7772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Fe–Cr–V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16736" y="6094476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316736" y="6094476"/>
            <a:ext cx="1438148" cy="45720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316736" y="6153912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316736" y="6153912"/>
            <a:ext cx="1322324" cy="45720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0" y="6094476"/>
            <a:ext cx="65836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tie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2064" y="6227064"/>
            <a:ext cx="7772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Fe–Mn–Ni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16736" y="6245352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316736" y="6245352"/>
            <a:ext cx="1351280" cy="45720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316736" y="6304788"/>
            <a:ext cx="1737360" cy="4572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316736" y="6304788"/>
            <a:ext cx="559816" cy="45720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0" y="6245352"/>
            <a:ext cx="65836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RF wins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70248" y="896112"/>
            <a:ext cx="3657600" cy="550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270248" y="896112"/>
            <a:ext cx="3657600" cy="420624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79976" y="9784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79976" y="982980"/>
            <a:ext cx="24688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F6B4F"/>
                </a:solidFill>
                <a:latin typeface="Arial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00016" y="969264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Spatial holdout vs. controls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407408" y="1426464"/>
            <a:ext cx="3383280" cy="1188720"/>
          </a:xfrm>
          <a:prstGeom prst="roundRect">
            <a:avLst>
              <a:gd name="adj" fmla="val 8000"/>
            </a:avLst>
          </a:prstGeom>
          <a:solidFill>
            <a:srgbClr val="F7FBF8"/>
          </a:solidFill>
          <a:ln w="635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26280" y="1490472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Two spatial protocols + controls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26280" y="1700784"/>
            <a:ext cx="3145536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B6573"/>
                </a:solidFill>
                <a:latin typeface="Arial"/>
              </a:rPr>
              <a:t>contiguous interior-band holdout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26280" y="1847088"/>
            <a:ext cx="2103120" cy="9144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367528" y="1847088"/>
            <a:ext cx="420623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B0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84264" y="1819656"/>
            <a:ext cx="100584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T ∈ [1200, 1400] 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26280" y="2011680"/>
            <a:ext cx="3145536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B6573"/>
                </a:solidFill>
                <a:latin typeface="Arial"/>
              </a:rPr>
              <a:t>strict one-sided extrapolation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26280" y="2157984"/>
            <a:ext cx="1156716" cy="91440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82996" y="2157984"/>
            <a:ext cx="946403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B0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84264" y="2130552"/>
            <a:ext cx="100584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x₂: ≤ 0.25 → &gt; 0.35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26280" y="2340864"/>
            <a:ext cx="109728" cy="64008"/>
          </a:xfrm>
          <a:prstGeom prst="rect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672584" y="2304288"/>
            <a:ext cx="4114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train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184648" y="2340864"/>
            <a:ext cx="10972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B0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30952" y="2304288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held out / far side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0800" y="2304288"/>
            <a:ext cx="12801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i="0">
                <a:solidFill>
                  <a:srgbClr val="24523C"/>
                </a:solidFill>
                <a:latin typeface="Arial"/>
              </a:rPr>
              <a:t>+ size-matched random control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407408" y="2724912"/>
            <a:ext cx="3383280" cy="1298448"/>
          </a:xfrm>
          <a:prstGeom prst="roundRect">
            <a:avLst>
              <a:gd name="adj" fmla="val 8000"/>
            </a:avLst>
          </a:prstGeom>
          <a:solidFill>
            <a:srgbClr val="EDF7F0"/>
          </a:solidFill>
          <a:ln w="635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26280" y="2788920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Composition-band penalty, Fe–Cr–Ni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26280" y="2980944"/>
            <a:ext cx="314553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B6573"/>
                </a:solidFill>
                <a:latin typeface="Arial"/>
              </a:rPr>
              <a:t>band MAE ÷ matched random-control MAE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26280" y="3163824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constrained MLP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751576" y="3191256"/>
            <a:ext cx="1417320" cy="9144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751576" y="3191256"/>
            <a:ext cx="713089" cy="91440"/>
          </a:xfrm>
          <a:prstGeom prst="rect">
            <a:avLst/>
          </a:prstGeom>
          <a:solidFill>
            <a:srgbClr val="4C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14616" y="3163824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B2B2B"/>
                </a:solidFill>
                <a:latin typeface="Arial"/>
              </a:rPr>
              <a:t>1.61×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526280" y="3355848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XGBoost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751576" y="3383279"/>
            <a:ext cx="1417320" cy="9144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751576" y="3383279"/>
            <a:ext cx="992124" cy="91440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214616" y="3355848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B2B2B"/>
                </a:solidFill>
                <a:latin typeface="Arial"/>
              </a:rPr>
              <a:t>2.24×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26280" y="3547872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random forest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751576" y="3575303"/>
            <a:ext cx="1417320" cy="91440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751576" y="3575303"/>
            <a:ext cx="1377457" cy="91440"/>
          </a:xfrm>
          <a:prstGeom prst="rect">
            <a:avLst/>
          </a:prstGeom>
          <a:solidFill>
            <a:srgbClr val="B0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214616" y="3547872"/>
            <a:ext cx="502920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B2B2B"/>
                </a:solidFill>
                <a:latin typeface="Arial"/>
              </a:rPr>
              <a:t>3.11×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26280" y="3749039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5B6573"/>
                </a:solidFill>
                <a:latin typeface="Arial"/>
              </a:rPr>
              <a:t>held-out band lies 99.3–99.4 % inside the training convex hull — interior generalization, not extrapolation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407408" y="4133087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F7FBF8"/>
          </a:solidFill>
          <a:ln w="6350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26280" y="4197096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Strict one-sided extrapolation</a:t>
            </a:r>
          </a:p>
        </p:txBody>
      </p:sp>
      <p:cxnSp>
        <p:nvCxnSpPr>
          <p:cNvPr id="136" name="Connector 135"/>
          <p:cNvCxnSpPr/>
          <p:nvPr/>
        </p:nvCxnSpPr>
        <p:spPr>
          <a:xfrm flipV="1">
            <a:off x="4581144" y="4416552"/>
            <a:ext cx="0" cy="557784"/>
          </a:xfrm>
          <a:prstGeom prst="line">
            <a:avLst/>
          </a:prstGeom>
          <a:ln w="12700">
            <a:solidFill>
              <a:srgbClr val="5B65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581144" y="4974336"/>
            <a:ext cx="1874520" cy="0"/>
          </a:xfrm>
          <a:prstGeom prst="line">
            <a:avLst/>
          </a:prstGeom>
          <a:ln w="12700">
            <a:solidFill>
              <a:srgbClr val="5B65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5561838" y="4443984"/>
            <a:ext cx="7315" cy="530352"/>
          </a:xfrm>
          <a:prstGeom prst="rect">
            <a:avLst/>
          </a:prstGeom>
          <a:solidFill>
            <a:srgbClr val="8A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 flipV="1">
            <a:off x="4670298" y="4910693"/>
            <a:ext cx="445770" cy="10607"/>
          </a:xfrm>
          <a:prstGeom prst="line">
            <a:avLst/>
          </a:prstGeom>
          <a:ln w="17780">
            <a:solidFill>
              <a:srgbClr val="4C8C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116068" y="4889479"/>
            <a:ext cx="445770" cy="21214"/>
          </a:xfrm>
          <a:prstGeom prst="line">
            <a:avLst/>
          </a:prstGeom>
          <a:ln w="17780">
            <a:solidFill>
              <a:srgbClr val="4C8C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561838" y="4815230"/>
            <a:ext cx="356616" cy="74249"/>
          </a:xfrm>
          <a:prstGeom prst="line">
            <a:avLst/>
          </a:prstGeom>
          <a:ln w="17780">
            <a:solidFill>
              <a:srgbClr val="4C8C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5918454" y="4698552"/>
            <a:ext cx="392277" cy="116678"/>
          </a:xfrm>
          <a:prstGeom prst="line">
            <a:avLst/>
          </a:prstGeom>
          <a:ln w="17780">
            <a:solidFill>
              <a:srgbClr val="4C8C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4670298" y="4889479"/>
            <a:ext cx="445770" cy="10607"/>
          </a:xfrm>
          <a:prstGeom prst="line">
            <a:avLst/>
          </a:prstGeom>
          <a:ln w="17780">
            <a:solidFill>
              <a:srgbClr val="B04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116068" y="4836444"/>
            <a:ext cx="445770" cy="53035"/>
          </a:xfrm>
          <a:prstGeom prst="line">
            <a:avLst/>
          </a:prstGeom>
          <a:ln w="17780">
            <a:solidFill>
              <a:srgbClr val="B04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5561838" y="4666731"/>
            <a:ext cx="356616" cy="169713"/>
          </a:xfrm>
          <a:prstGeom prst="line">
            <a:avLst/>
          </a:prstGeom>
          <a:ln w="17780">
            <a:solidFill>
              <a:srgbClr val="B04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5918454" y="4470501"/>
            <a:ext cx="392277" cy="196230"/>
          </a:xfrm>
          <a:prstGeom prst="line">
            <a:avLst/>
          </a:prstGeom>
          <a:ln w="17780">
            <a:solidFill>
              <a:srgbClr val="B04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6473952" y="4433925"/>
            <a:ext cx="56692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B04A3A"/>
                </a:solidFill>
                <a:latin typeface="Arial"/>
              </a:rPr>
              <a:t>trees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73952" y="4661976"/>
            <a:ext cx="566928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1" i="0">
                <a:solidFill>
                  <a:srgbClr val="24523C"/>
                </a:solidFill>
                <a:latin typeface="Arial"/>
              </a:rPr>
              <a:t>MLP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35424" y="5001768"/>
            <a:ext cx="27432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MAE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058918" y="5001768"/>
            <a:ext cx="10058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training range edge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556248" y="5001768"/>
            <a:ext cx="8229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B6573"/>
                </a:solidFill>
                <a:latin typeface="Arial"/>
              </a:rPr>
              <a:t>coordinate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26280" y="5157216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 i="0">
                <a:solidFill>
                  <a:srgbClr val="24523C"/>
                </a:solidFill>
                <a:latin typeface="Arial"/>
              </a:rPr>
              <a:t>all evaluated families degrade sharply beyond the training range; the MLP degrades least — yet none extrapolates reliably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407408" y="5468112"/>
            <a:ext cx="3383280" cy="804672"/>
          </a:xfrm>
          <a:prstGeom prst="roundRect">
            <a:avLst>
              <a:gd name="adj" fmla="val 8000"/>
            </a:avLst>
          </a:prstGeom>
          <a:solidFill>
            <a:srgbClr val="EDF7F0"/>
          </a:solidFill>
          <a:ln w="9525">
            <a:solidFill>
              <a:srgbClr val="2F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526280" y="5541264"/>
            <a:ext cx="3145536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24523C"/>
                </a:solidFill>
                <a:latin typeface="Arial"/>
              </a:rPr>
              <a:t>Constrained MLPs degrade more gracefully than trees under contiguous region holdout: the region-matched penalty is smaller for MLPs in 9 of 10 band × system combinations. Graceful degradation is not reliable extrapolation.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284464" y="896112"/>
            <a:ext cx="3657600" cy="55046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284464" y="896112"/>
            <a:ext cx="3657600" cy="420624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394192" y="9784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394192" y="982980"/>
            <a:ext cx="246888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5B3F8C"/>
                </a:solidFill>
                <a:latin typeface="Arial"/>
              </a:rPr>
              <a:t>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714232" y="969264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Regression vs. phase detection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421624" y="1426464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7F5F9"/>
          </a:solidFill>
          <a:ln w="6350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540496" y="1490472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Two distinct tasks, one prediction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540496" y="1719072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regression (MAE)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540496" y="1865376"/>
            <a:ext cx="779526" cy="109728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320022" y="1865376"/>
            <a:ext cx="425196" cy="109728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745218" y="1865376"/>
            <a:ext cx="141732" cy="109728"/>
          </a:xfrm>
          <a:prstGeom prst="rect">
            <a:avLst/>
          </a:prstGeom>
          <a:solidFill>
            <a:srgbClr val="4A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886950" y="1865376"/>
            <a:ext cx="70866" cy="109728"/>
          </a:xfrm>
          <a:prstGeom prst="rect">
            <a:avLst/>
          </a:prstGeom>
          <a:solidFill>
            <a:srgbClr val="7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540496" y="2034540"/>
            <a:ext cx="73152" cy="54864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631936" y="1997964"/>
            <a:ext cx="173736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BCC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878824" y="2034540"/>
            <a:ext cx="73152" cy="54864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970263" y="1997964"/>
            <a:ext cx="173736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FCC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217151" y="2034540"/>
            <a:ext cx="73152" cy="54864"/>
          </a:xfrm>
          <a:prstGeom prst="rect">
            <a:avLst/>
          </a:prstGeom>
          <a:solidFill>
            <a:srgbClr val="4A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308591" y="1997964"/>
            <a:ext cx="173736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LIQ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9555479" y="2034540"/>
            <a:ext cx="73152" cy="54864"/>
          </a:xfrm>
          <a:prstGeom prst="rect">
            <a:avLst/>
          </a:prstGeom>
          <a:solidFill>
            <a:srgbClr val="7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646919" y="1997964"/>
            <a:ext cx="91440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σ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04704" y="1719072"/>
            <a:ext cx="14630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detection (F₁)</a:t>
            </a:r>
          </a:p>
        </p:txBody>
      </p:sp>
      <p:sp>
        <p:nvSpPr>
          <p:cNvPr id="176" name="Oval 175"/>
          <p:cNvSpPr/>
          <p:nvPr/>
        </p:nvSpPr>
        <p:spPr>
          <a:xfrm>
            <a:off x="10204704" y="1856231"/>
            <a:ext cx="128016" cy="128016"/>
          </a:xfrm>
          <a:prstGeom prst="ellipse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424160" y="1856231"/>
            <a:ext cx="128016" cy="128016"/>
          </a:xfrm>
          <a:prstGeom prst="ellipse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643616" y="1856231"/>
            <a:ext cx="128016" cy="128016"/>
          </a:xfrm>
          <a:prstGeom prst="ellipse">
            <a:avLst/>
          </a:prstGeom>
          <a:solidFill>
            <a:srgbClr val="4A9B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863072" y="1856231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844784" y="1842516"/>
            <a:ext cx="164592" cy="1463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8A93A0"/>
                </a:solidFill>
                <a:latin typeface="Arial"/>
              </a:rPr>
              <a:t>×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158984" y="1997964"/>
            <a:ext cx="219456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BCC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378440" y="1997964"/>
            <a:ext cx="219456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FCC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597896" y="1997964"/>
            <a:ext cx="219456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LIQ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817352" y="1997964"/>
            <a:ext cx="219456" cy="118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5B6573"/>
                </a:solidFill>
                <a:latin typeface="Arial"/>
              </a:rPr>
              <a:t>σ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540496" y="2148840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46306C"/>
                </a:solidFill>
                <a:latin typeface="Arial"/>
              </a:rPr>
              <a:t>rare phases are cheap in aggregate MAE — zero-fraction rows contribute almost no error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8421624" y="2542032"/>
            <a:ext cx="3383280" cy="1481328"/>
          </a:xfrm>
          <a:prstGeom prst="roundRect">
            <a:avLst>
              <a:gd name="adj" fmla="val 8000"/>
            </a:avLst>
          </a:prstGeom>
          <a:solidFill>
            <a:srgbClr val="F7F5F9"/>
          </a:solidFill>
          <a:ln w="6350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540496" y="2606040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Fe–Mn–Ni: the ranking reverses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540496" y="2834640"/>
            <a:ext cx="314553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B6573"/>
                </a:solidFill>
                <a:latin typeface="Arial"/>
              </a:rPr>
              <a:t>test MAE (lower is better)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540496" y="299923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RF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924544" y="3017520"/>
            <a:ext cx="1737360" cy="64008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924544" y="3017520"/>
            <a:ext cx="719763" cy="64008"/>
          </a:xfrm>
          <a:prstGeom prst="rect">
            <a:avLst/>
          </a:prstGeom>
          <a:solidFill>
            <a:srgbClr val="C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0716768" y="2990088"/>
            <a:ext cx="5486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B2B2B"/>
                </a:solidFill>
                <a:latin typeface="Arial"/>
              </a:rPr>
              <a:t>0.0058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540496" y="314553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MLP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924544" y="3163824"/>
            <a:ext cx="1737360" cy="64008"/>
          </a:xfrm>
          <a:prstGeom prst="rect">
            <a:avLst/>
          </a:prstGeom>
          <a:solidFill>
            <a:srgbClr val="E8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8924544" y="3163824"/>
            <a:ext cx="1737360" cy="64008"/>
          </a:xfrm>
          <a:prstGeom prst="rect">
            <a:avLst/>
          </a:prstGeom>
          <a:solidFill>
            <a:srgbClr val="3F7C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716768" y="3136392"/>
            <a:ext cx="54864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2B2B2B"/>
                </a:solidFill>
                <a:latin typeface="Arial"/>
              </a:rPr>
              <a:t>0.0140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1283696" y="299923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forest
wins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540496" y="3346704"/>
            <a:ext cx="314553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5B6573"/>
                </a:solidFill>
                <a:latin typeface="Arial"/>
              </a:rPr>
              <a:t>rare-phase detection (MNNI · MNNI2 · ALPHA_MN)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540496" y="3529584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RF</a:t>
            </a:r>
          </a:p>
        </p:txBody>
      </p:sp>
      <p:sp>
        <p:nvSpPr>
          <p:cNvPr id="200" name="Oval 199"/>
          <p:cNvSpPr/>
          <p:nvPr/>
        </p:nvSpPr>
        <p:spPr>
          <a:xfrm>
            <a:off x="8942832" y="3520440"/>
            <a:ext cx="128016" cy="128016"/>
          </a:xfrm>
          <a:prstGeom prst="ellipse">
            <a:avLst/>
          </a:prstGeom>
          <a:solidFill>
            <a:srgbClr val="7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162288" y="3520440"/>
            <a:ext cx="128016" cy="128016"/>
          </a:xfrm>
          <a:prstGeom prst="ellipse">
            <a:avLst/>
          </a:prstGeom>
          <a:solidFill>
            <a:srgbClr val="7B5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81744" y="3520440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9656064" y="3520440"/>
            <a:ext cx="164592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resolves 2 of 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540496" y="3694176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MLP</a:t>
            </a:r>
          </a:p>
        </p:txBody>
      </p:sp>
      <p:sp>
        <p:nvSpPr>
          <p:cNvPr id="205" name="Oval 204"/>
          <p:cNvSpPr/>
          <p:nvPr/>
        </p:nvSpPr>
        <p:spPr>
          <a:xfrm>
            <a:off x="8942832" y="368503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924544" y="3671315"/>
            <a:ext cx="164592" cy="1463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8A93A0"/>
                </a:solidFill>
                <a:latin typeface="Arial"/>
              </a:rPr>
              <a:t>×</a:t>
            </a:r>
          </a:p>
        </p:txBody>
      </p:sp>
      <p:sp>
        <p:nvSpPr>
          <p:cNvPr id="207" name="Oval 206"/>
          <p:cNvSpPr/>
          <p:nvPr/>
        </p:nvSpPr>
        <p:spPr>
          <a:xfrm>
            <a:off x="9162288" y="368503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9144000" y="3671315"/>
            <a:ext cx="164592" cy="1463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8A93A0"/>
                </a:solidFill>
                <a:latin typeface="Arial"/>
              </a:rPr>
              <a:t>×</a:t>
            </a:r>
          </a:p>
        </p:txBody>
      </p:sp>
      <p:sp>
        <p:nvSpPr>
          <p:cNvPr id="209" name="Oval 208"/>
          <p:cNvSpPr/>
          <p:nvPr/>
        </p:nvSpPr>
        <p:spPr>
          <a:xfrm>
            <a:off x="9381744" y="3685032"/>
            <a:ext cx="128016" cy="1280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8A93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363456" y="3671315"/>
            <a:ext cx="164592" cy="1463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8A93A0"/>
                </a:solidFill>
                <a:latin typeface="Arial"/>
              </a:rPr>
              <a:t>×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656064" y="3685032"/>
            <a:ext cx="1645920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573"/>
                </a:solidFill>
                <a:latin typeface="Arial"/>
              </a:rPr>
              <a:t>detects none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283696" y="352958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5B6573"/>
                </a:solidFill>
                <a:latin typeface="Arial"/>
              </a:rPr>
              <a:t>forest
wins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540496" y="3858768"/>
            <a:ext cx="314553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6306C"/>
                </a:solidFill>
                <a:latin typeface="Arial"/>
              </a:rPr>
              <a:t>the best regressor need not be the best detector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8421624" y="4133087"/>
            <a:ext cx="3383280" cy="969264"/>
          </a:xfrm>
          <a:prstGeom prst="roundRect">
            <a:avLst>
              <a:gd name="adj" fmla="val 8000"/>
            </a:avLst>
          </a:prstGeom>
          <a:solidFill>
            <a:srgbClr val="F7F5F9"/>
          </a:solidFill>
          <a:ln w="6350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8540496" y="4197096"/>
            <a:ext cx="314553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2B2B"/>
                </a:solidFill>
                <a:latin typeface="Arial"/>
              </a:rPr>
              <a:t>Robust to the presence threshold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8558784" y="4425696"/>
            <a:ext cx="402336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558784" y="4439412"/>
            <a:ext cx="402336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6306C"/>
                </a:solidFill>
                <a:latin typeface="Arial"/>
              </a:rPr>
              <a:t>10⁻⁴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9034272" y="4425696"/>
            <a:ext cx="402336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9034272" y="4439412"/>
            <a:ext cx="402336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6306C"/>
                </a:solidFill>
                <a:latin typeface="Arial"/>
              </a:rPr>
              <a:t>10⁻³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9509760" y="4425696"/>
            <a:ext cx="402336" cy="182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509760" y="4439412"/>
            <a:ext cx="402336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6306C"/>
                </a:solidFill>
                <a:latin typeface="Arial"/>
              </a:rPr>
              <a:t>10⁻²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021824" y="4425696"/>
            <a:ext cx="1691640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B6573"/>
                </a:solidFill>
                <a:latin typeface="Arial"/>
              </a:rPr>
              <a:t>gap persists at all three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540496" y="468172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5B6573"/>
                </a:solidFill>
                <a:latin typeface="Arial"/>
              </a:rPr>
              <a:t>although the detector ranking flips with the threshold on Fe–Cr–Mo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8421624" y="5212080"/>
            <a:ext cx="3383280" cy="1060704"/>
          </a:xfrm>
          <a:prstGeom prst="roundRect">
            <a:avLst>
              <a:gd name="adj" fmla="val 8000"/>
            </a:avLst>
          </a:prstGeom>
          <a:solidFill>
            <a:srgbClr val="FDF6E8"/>
          </a:solidFill>
          <a:ln w="9525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540496" y="5285232"/>
            <a:ext cx="314553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46306C"/>
                </a:solidFill>
                <a:latin typeface="Arial"/>
              </a:rPr>
              <a:t>Report both. </a:t>
            </a:r>
            <a:r>
              <a:rPr sz="900" b="0" i="0">
                <a:solidFill>
                  <a:srgbClr val="2B2B2B"/>
                </a:solidFill>
                <a:latin typeface="Arial"/>
              </a:rPr>
              <a:t>Low phase-fraction MAE does not imply good phase-presence detection — for alloy design, detecting a rare phase matters as much as estimating its fraction.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3931920" y="3648456"/>
            <a:ext cx="320040" cy="0"/>
          </a:xfrm>
          <a:prstGeom prst="line">
            <a:avLst/>
          </a:prstGeom>
          <a:ln w="22225">
            <a:solidFill>
              <a:srgbClr val="5B65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7946136" y="3648456"/>
            <a:ext cx="320039" cy="0"/>
          </a:xfrm>
          <a:prstGeom prst="line">
            <a:avLst/>
          </a:prstGeom>
          <a:ln w="22225">
            <a:solidFill>
              <a:srgbClr val="5B65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TextBox 227"/>
          <p:cNvSpPr txBox="1"/>
          <p:nvPr/>
        </p:nvSpPr>
        <p:spPr>
          <a:xfrm>
            <a:off x="502920" y="6510528"/>
            <a:ext cx="11201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A93A0"/>
                </a:solidFill>
                <a:latin typeface="Arial"/>
              </a:rPr>
              <a:t>Fixed-protocol benchmark · 6 heads + 2 mechanism probes · 4 baselines · 5 ternary + 4 extension systems · 88,542 equilibria · seeds 42 / 123 / 2024 · negative results reported in full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